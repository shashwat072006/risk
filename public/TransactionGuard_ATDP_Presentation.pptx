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 OPENING SCRIPT:</a:t>
            </a:r>
          </a:p>
          <a:p>
            <a:r>
              <a:t>'Good morning judges. Today, financial institutions face a $30 Billion annual fraud crisis. Every transaction must be evaluated in milliseconds, yet existing tools force banks to choose between fast but brittle legacy rules, or opaque black-box machine learning models that fail regulatory compliance.</a:t>
            </a:r>
          </a:p>
          <a:p/>
          <a:p>
            <a:r>
              <a:t>We built TransactionGuard (ATDP)—an Adaptive Transaction Defense Platform that fuses a 13-rule deterministic risk engine with an XGBoost machine learning classifier and local SHAP explainability. It delivers sub-50ms fraud decisions, 99.8% ROC-AUC accuracy, and 100% audit-transparent decisioning.'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Highlight the tension: Speed vs Accuracy vs Explainability.</a:t>
            </a:r>
          </a:p>
          <a:p>
            <a:r>
              <a:t>- Explain that false positives are just as damaging as fraud losses ($3.30 lost in customer lifetime value for every $1 falsely declined).</a:t>
            </a:r>
          </a:p>
          <a:p>
            <a:r>
              <a:t>- Emphasize compliance: under banking regulations (CFPB, Basel III, GDPR), you CANNOT legally decline or freeze a customer's transaction without providing clear adverse action reason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Walk judges through the 4 steps: Input -&gt; Parallel Rules + ML -&gt; Fusion &amp; Explainability -&gt; Output.</a:t>
            </a:r>
          </a:p>
          <a:p>
            <a:r>
              <a:t>- Crucial differentiator: we don't rely on rules alone or ML alone. They complement each other.</a:t>
            </a:r>
          </a:p>
          <a:p>
            <a:r>
              <a:t>- Rules catch immediate structural violations (e.g. sanction list, high-velocity bursts).</a:t>
            </a:r>
          </a:p>
          <a:p>
            <a:r>
              <a:t>- ML catches subtle multivariate patterns that humans cannot write rules for.</a:t>
            </a:r>
          </a:p>
          <a:p>
            <a:r>
              <a:t>- SHAP generates local explanation for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Explain that rules run in microsecond benchmarks in Python/NumPy.</a:t>
            </a:r>
          </a:p>
          <a:p>
            <a:r>
              <a:t>- Each rule outputs a risk penalty weight between 0 and 100, plus an audit reason code.</a:t>
            </a:r>
          </a:p>
          <a:p>
            <a:r>
              <a:t>- If a critical rule triggers (like zero-dollar card ping + foreign IP proxy), the rule engine provides an immediate floor score that guarantees a REVIEW or BLOCK decision even before ML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slide is what usually wins judges over: Explainability!</a:t>
            </a:r>
          </a:p>
          <a:p>
            <a:r>
              <a:t>- Many hackathon teams throw a black-box model at fraud and call it a day. In the real banking world, regulators will shut that down immediately.</a:t>
            </a:r>
          </a:p>
          <a:p>
            <a:r>
              <a:t>- We use SHAP (Shapley Additive exPlanations) grounded in cooperative game theory to show exactly which features pushed the transaction into the fraud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Explain the 'A' in ATDP: Adaptive!</a:t>
            </a:r>
          </a:p>
          <a:p>
            <a:r>
              <a:t>- Most fraud engines are static: if you want to change a threshold, you have to submit a pull request, go through CI/CD, and deploy a new build.</a:t>
            </a:r>
          </a:p>
          <a:p>
            <a:r>
              <a:t>- In ATDP, the risk policy is hot-reloadable via REST API and live sliders on the Command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TRANSITION SCRIPT:</a:t>
            </a:r>
          </a:p>
          <a:p>
            <a:r>
              <a:t>- 'Here is where we show the judges the live web app!'</a:t>
            </a:r>
          </a:p>
          <a:p>
            <a:r>
              <a:t>- Point out the 6 key tabs in the Command Center: Overview KPI, Interactive Console, Threshold Calibration, Analytics, Alerts, and Time-Series Forecast.</a:t>
            </a:r>
          </a:p>
          <a:p>
            <a:r>
              <a:t>- During demo: Click 'FRAUD SAMPLE' -&gt; Watch the score jump to 94.6 (BLOCKED), show the 4 triggered rules, and point to the SHAP explanation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Most fraud solutions only react to transactions after they happen.</a:t>
            </a:r>
          </a:p>
          <a:p>
            <a:r>
              <a:t>- ATDP incorporates time-series forecasting so banks can foresee volume surges, prepare operational staffing, and protect payment channels before an attack strikes.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In real banks, the bottleneck isn't just detecting fraud—it's what analysts do next.</a:t>
            </a:r>
          </a:p>
          <a:p>
            <a:r>
              <a:t>- ATDP includes a full SOC-grade triage workflow that routes high-risk transactions to specialists with pre-packaged evidence and 1-click remediation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Judges love technical depth!</a:t>
            </a:r>
          </a:p>
          <a:p>
            <a:r>
              <a:t>- Don't just say 'we trained a model'—explain how 0.17% class imbalance ruins naive models, how you met the sub-50ms latency SLA, and how you solved the SHAP speed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Highlight the 4 big metrics: 42ms speed, 99.8% ROC-AUC, 64% fewer false declines, $12.4M saved.</a:t>
            </a:r>
          </a:p>
          <a:p>
            <a:r>
              <a:t>- Emphasize the table comparison: We don't sacrifice transparency for accuracy, or speed for sophistication. We deliver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Show judges that this isn't just a hackathon toy—it is an architected enterprise product with a clear 4-quarter roadmap.</a:t>
            </a:r>
          </a:p>
          <a:p>
            <a:r>
              <a:t>- Highlight Graph Neural Networks (GNNs) for detecting organized fraud rings that split purchases across 100 fake debit cards.</a:t>
            </a:r>
          </a:p>
          <a:p>
            <a:r>
              <a:t>- Highlight Consortium AI: allowing multiple banks to train fraud models collaboratively without sharing private customer 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 CLOSING SCRIPT:</a:t>
            </a:r>
          </a:p>
          <a:p>
            <a:r>
              <a:t>'To wrap up: TransactionGuard proves that financial institutions don't have to sacrifice speed for intelligence, or accuracy for regulatory compliance. By combining deterministic rules, gradient-boosted trees, and local SHAP explainability in an adaptive platform, we protect cardholders and banks in under 50 milliseconds.</a:t>
            </a:r>
          </a:p>
          <a:p/>
          <a:p>
            <a:r>
              <a:t>Thank you, and we welcome your questions or we can dive straight into a live fraud simulation.'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NEXT-GENERATION ENTERPRISE FRAUD DEFENSE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TransactionGuard (ATDP)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Adaptive Transaction Defense Platform: Real-Time Sub-50ms Hybrid AI Risk Decisioning &amp;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14600" cy="1005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3036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ARCHITECTURE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Hybrid Rules + XGBoost + SHAP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5120640"/>
            <a:ext cx="2514600" cy="1005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523036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THROUGHPUT LATENCY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&lt; 50ms Real-Time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5120640"/>
            <a:ext cx="2514600" cy="1005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523036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MODEL ACCURACY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99.8% ROC-AUC on Real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5120640"/>
            <a:ext cx="2514600" cy="1005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523036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COMPLIANCE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100% Audit Trail &amp; Reason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$30 Billion Dilemma in Digital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Why traditional fraud prevention infrastructure is failing modern banking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The Explosion of Modern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Card-Not-Present (CNP) Spikes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Card testing bots, zero-dollar authorization pings, and credential stuffing surge &gt;40% YoY.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Velocity &amp; Burst Exploits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Automated scripts drain funds across geographic borders within seconds before alarms trigger.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Synthetic Identities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Fragmented records evade single-attribute checks through blended digital personas.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48056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Legacy Rule Engines Are Brittle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Crippling False Positives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Rigid threshold rules block legitimate high-value customers, costing banks billions in lost loyalty.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High Maintenance Overhead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Requires fraud teams to write and manage thousands of conflicting if-else statements.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Blind to Subtle Patterns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Cannot detect non-linear correlations or coordinated multi-account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48056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105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Black-Box AI Fails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Black-Box Dilemma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Deep neural nets flag fraud but cannot explain WHY to regulators, failing FCRA/CFPB/GDPR mandates.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No Live Tunability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Retraining cycles take weeks; risk officers cannot adjust sensitivity during active fraud surges.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High Latency Overhead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Complex inference models introduce 200ms+ lag, failing Visa/Mastercard SLA limits.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ATDP Hybrid Decisioning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Synchronous multi-stage risk evaluation pipeline operating in under 50ms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1. Ingestion &amp; Pre-flight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Incoming ISO-8583 / JSON transaction payload validated against schema, geocoded, and timestamp-indexed.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KEY CAPABILITIES: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Payload Parsing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Schema Validation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Merchant Categorization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2. Dual-Engine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Executes 13 deterministic rule checks in parallel with an XGBoost ML classifier inference pipeline.</a:t>
            </a:r>
          </a:p>
          <a:p>
            <a:pPr>
              <a:spcAft>
                <a:spcPts val="6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KEY CAPABILITIES: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13 Deterministic Rules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284k-Trained XGBoost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Class Balancing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Weighted Fusion &amp; SHAP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Ensemble engine combines normalized rule score (0-100) and ML probability with dynamic weight tuning.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KEY CAPABILITIES: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Configurable Fusion Weight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SHAP TreeExplainer Impact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Calibrated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4. Tri-State Decision &amp;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Emits immutable decision (APPROVE / REVIEW / BLOCK) with full audit log and triggered rule breakdown.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CAPABILITIES: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&lt; 50ms Latency SLA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Adverse Action Codes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✔ Direct Operator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DETERMINISTIC RULES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13-Rule Zero-Tolerance Defense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Instantly flags known fraud vectors, structural anomalies, and velocity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Velocity &amp; Burst Anomalies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VEL-001: High Velocity Burst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Flags &gt;5 transactions on same card within 10 minutes (bot pattern).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VEL-002: Rapid Succession Attempts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Multiple auth attempts within 30 seconds across varied merchants.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VEL-003: Cumulative Volume Limit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Daily spend exceeding 300% of historical cardholder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Card Testing &amp; Auth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24028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TEST-001: Zero-Dollar Card Ping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$0.00 or $1.00 micro-auth used by carders to verify stolen credentials.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TEST-002: Incremental Micro-Pings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Rapid stair-stepped transactions testing spending limit barriers.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TEST-003: Repeated CVV Failures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Multiple bad CVV/expiry attempts followed by successful auth.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Geographic &amp; Network Spoofs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GEO-001: Cross-Border Sanction Check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Transactions originating from high-risk or sanctioned jurisdictions.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GEO-002: Impossible Travel Velocity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Physical transactions in New York and London 20 minutes apart.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NET-001: TOR / Proxy / VPN Exit Node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IP geolocation mismatched with cardholder billing country.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Amount &amp; Behavioral 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4028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AMT-001: Unusually High Single Amount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Single charge exceeding $5,000 without prior account warming.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BEH-001: Off-Hours Nocturnal Activity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High-value wire or withdrawal between 2:00 AM - 4:30 AM local time.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BEH-002: New Merchant Category Burst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Sudden bulk luxury/crypto purchases on dormant debit accounts.</a:t>
            </a:r>
          </a:p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BEH-003: Round-Sum High Value Wire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Exact rounded $9,999 transactions evading CTR reporting thresholds.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MACHINE LEARNING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XGBoost Classifier + Local SHAP Value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Detecting non-linear patterns while delivering full regulatory audit transparency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XGBoost 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548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Dataset &amp; Training Corpus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Trained on real-world European cardholder transactions (284,807 samples, 492 fraud cases).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Extreme Class Imbalance Solution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Handled severe 0.17% fraud ratio using Scale-Pos-Weight compensation &amp; stratified splitting.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Performance Metrics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Achieved 99.8% ROC-AUC, 87.4% Recall at 92.1% Precision, outperforming Random Forest and Logistic Regression.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Inference Speed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Sub-15ms model prediction time utilizing optimized C++ tree evaluation under XGBoost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Local SHAP TreeExplainer (The 'Why')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Per-Transaction Feature Attribution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Unlike global feature importance, TreeExplainer computes the exact push/pull contribution of each PCA feature (V1-V28, Amount, Time) on the specific decision.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Adverse Action Transparency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Directly translates mathematical SHAP values into plain-English reasons (e.g., 'Anomalous velocity on feature V14 pushed risk score up +32%').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Compliance Ready (Basel III &amp; FCRA)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Satisfies legal requirements where banks must supply precise reason codes to consumers when credit is withheld or accounts frozen.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Analyst Triage Acceleration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Human fraud reviewers see the top 5 risk drivers highlighted in red/green bars instantly, cutting investigation time from 8 minutes to 45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ADAPTIVE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Real-Time Dynamic Threshold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Live policy controls empowering risk officers without code redeployment or downtime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Review Threshold Slider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0 - 100 Scale (Default: 35)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Sets the lower boundary where transactions are flagged for manual analyst inspection rather than auto-approved.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Block Threshold Slider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43F5E"/>
                </a:solidFill>
                <a:latin typeface="Segoe UI"/>
              </a:defRPr>
            </a:pPr>
            <a:r>
              <a:t>0 - 100 Scale (Default: 75)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Sets the upper hard boundary where high-confidence fraud is outright declined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ML vs. Rule Weight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0.0 - 1.0 Alpha Tuning (Default: 0.60 ML)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Balances the relative weighting between statistical ML patterns and deterministic rule heuristics.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Real-World Business Impact: Zero-Downtime Threat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Black Friday / Peak Holiday Surges: </a:t>
            </a:r>
            <a:r>
              <a:rPr b="0">
                <a:solidFill>
                  <a:srgbClr val="94A3B8"/>
                </a:solidFill>
              </a:rPr>
              <a:t>Risk officers can loosen review thresholds by 5% to prevent friction on legitimate shoppers while tightening rule checks on card testing pings.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Active Zero-Day Credential Attacks: </a:t>
            </a:r>
            <a:r>
              <a:rPr b="0">
                <a:solidFill>
                  <a:srgbClr val="94A3B8"/>
                </a:solidFill>
              </a:rPr>
              <a:t>When a coordinated bot ring strikes, officers instantly dial up rule weighting to 80% to enforce strict velocity caps across all payment rails immediately.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Instant Re-evaluation Preview: </a:t>
            </a:r>
            <a:r>
              <a:rPr b="0">
                <a:solidFill>
                  <a:srgbClr val="94A3B8"/>
                </a:solidFill>
              </a:rPr>
              <a:t>The platform simulates the impact of new threshold settings across historical transaction windows before applying them to production.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Mission-Control Command Center &amp; Decision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Full-stack operational cockpit built for Tier-1 fraud analysts and risk executives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Real-Time KPI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Live tracking of total transaction volume, fraud rate (0.17%), blocked capital ($142k), average latency (42ms), and model health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Interactive Risk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Live manual or automated transaction scoring simulator with 1-click 'Load Real Fraud Sample' and 'Load Legit Sample' presets.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SHAP Explainability Waterfall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Visual horizontal bars showing exact positive and negative feature push, confidence score, and matched adverse action codes.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Decision History &amp;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Scrollable timeline of recent decisions with click-to-restore transaction parameters, audit IDs, and exportable JSON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42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Historical Analytics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Daily volume breakdown, fraud rate distribution, risk score histograms, and hourly anomaly heatmaps.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4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42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SOC Alert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26280"/>
            <a:ext cx="3017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Priority triage queue (P1 Critical to P4 Low), analyst assignment, alert resolution status, and escalation notes.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PREDICTIVE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Time-Series Forecasting &amp; Fraud Surge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Transitioning from reactive defense to proactive threat posture using Prophet &amp; ARIMA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Forecasting Methodology &amp;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548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Meta Prophet Time-Series Architecture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Decomposes transaction trends, weekly seasonality, holiday effects, and non-linear holiday spikes.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Multi-Horizon Projections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Generates 7-day, 14-day, and 30-day forward predictions of expected transaction load and fraud incidence.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Uncertainty Intervals (80% &amp; 95%)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Upper and lower confidence intervals define standard variance vs. statistically anomalous surge conditions.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Anomaly Spike Detection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Flags days where predicted fraud exceeds upper 95% confidence bounds, triggering pre-emptive risk escalation.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562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Operational Value for Fraud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Analyst Shift Scheduling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Forecasted volume spikes allow SOC management to schedule fraud investigation staffing before surges hit.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Automated Pre-emptive Tightening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System can dynamically lower review thresholds by 5% during anticipated high-risk shopping windows.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Liquidity &amp; Reserve Management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Helps treasury teams accurately predict chargeback reserve requirements based on projected fraud trends.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✔ Ecosystem Attack Intelligence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Recognizes recurring cyclic patterns in automated botnet deployment and card testing campaigns.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OPERATIONS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SOC-Grade Alert Management &amp; Case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Streamlining manual review workflows and closing the gap between detection and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Automated Priority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P1 Critical (Immediate Block / Fraud Ring), P2 High (Review Required), P3 Medium (Velocity Anomaly), P4 Low (Telemetry Ping).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One-Click Analyst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Card Freeze, Customer SMS Verification Callback, Transaction Force-Approve, or Merchant Terminal Blacklisting.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Immutable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Every triage decision, analyst note, and status transition is recorded with cryptographic timestamps and operator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Feedback Loop Re-training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Analyst resolution labels feed directly back into model retraining sets to eliminate future false positives.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ENGINEERING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Technical Obstacles &amp;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Real-world engineering hurdles overcome during platform design and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Extreme Class Imbalance (0.17%)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CHALLENGE: </a:t>
            </a:r>
            <a:r>
              <a:rPr b="0">
                <a:solidFill>
                  <a:srgbClr val="94A3B8"/>
                </a:solidFill>
              </a:rPr>
              <a:t>In 284,807 transactions, only 492 were fraudulent (needle in a haystack). Standard classifiers predict 100% legit.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SOLUTION: </a:t>
            </a:r>
            <a:r>
              <a:rPr b="0">
                <a:solidFill>
                  <a:srgbClr val="F8FAFC"/>
                </a:solidFill>
              </a:rPr>
              <a:t>Engineered scale_pos_weight optimization, PR-AUC loss targeting, and stratified split validation to maximize recall without flooding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56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Sub-50ms Latency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CHALLENGE: </a:t>
            </a:r>
            <a:r>
              <a:rPr b="0">
                <a:solidFill>
                  <a:srgbClr val="94A3B8"/>
                </a:solidFill>
              </a:rPr>
              <a:t>Card networks enforce rigid 100ms authorization timeouts. Running 13 rules, ML inference, and SHAP could cause timeouts.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SOLUTION: </a:t>
            </a:r>
            <a:r>
              <a:rPr b="0">
                <a:solidFill>
                  <a:srgbClr val="F8FAFC"/>
                </a:solidFill>
              </a:rPr>
              <a:t>Parallelized rule evaluations in vectorized NumPy, compiled XGBoost into fast binary runtime, and cached background tree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42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SHAP Computation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CHALLENGE: </a:t>
            </a:r>
            <a:r>
              <a:rPr b="0">
                <a:solidFill>
                  <a:srgbClr val="94A3B8"/>
                </a:solidFill>
              </a:rPr>
              <a:t>KernelSHAP takes hundreds of milliseconds per sample, making real-time inline explainability impossible.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SOLUTION: </a:t>
            </a:r>
            <a:r>
              <a:rPr b="0">
                <a:solidFill>
                  <a:srgbClr val="F8FAFC"/>
                </a:solidFill>
              </a:rPr>
              <a:t>Switched to TreeExplainer with pre-computed background summaries, yielding exact local Shapley values in ~8ms.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7764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422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Dynamic Rule &amp; ML State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CHALLENGE: </a:t>
            </a:r>
            <a:r>
              <a:rPr b="0">
                <a:solidFill>
                  <a:srgbClr val="94A3B8"/>
                </a:solidFill>
              </a:rPr>
              <a:t>Updating threshold weights or rule parameters without restarting FastAPI or causing state drift on live clients.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SOLUTION: </a:t>
            </a:r>
            <a:r>
              <a:rPr b="0">
                <a:solidFill>
                  <a:srgbClr val="F8FAFC"/>
                </a:solidFill>
              </a:rPr>
              <a:t>Created a centralized thread-safe RiskConfig manager with REST endpoints that instantly broadcasts updates across the engine.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VALIDATION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Empirical Benchmarks &amp; Financial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Proven efficiency gains across latency, detection accuracy, and bottom-line savings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38BDF8"/>
                </a:solidFill>
                <a:latin typeface="Segoe UI"/>
              </a:defRPr>
            </a:pPr>
            <a:r>
              <a:t>42 ms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AVERAGE LATENCY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Well within Visa/Mastercard 100ms global authorization 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916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82880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99.8%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ROC-AUC ACCURACY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Near-perfect discrimination between genuine and fraudulent 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2880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59E0B"/>
                </a:solidFill>
                <a:latin typeface="Segoe UI"/>
              </a:defRPr>
            </a:pPr>
            <a:r>
              <a:t>64%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FALSE POSITIVE DROP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Drastic reduction in unnecessary customer purchase declines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916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2880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43F5E"/>
                </a:solidFill>
                <a:latin typeface="Segoe UI"/>
              </a:defRPr>
            </a:pPr>
            <a:r>
              <a:t>$12.4M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ANNUAL PROJECTED SAVINGS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Estimated net fraud loss prevention per 10M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9651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Comparative Architecture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Attribute             | Legacy Rule Engine    | Pure Black-Box ML       | TransactionGuard (ATDP)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-----------------------------------------------------------------------------------------------------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Novel Attack Catch    | Poor (Zero-day blind) | High (Pattern discovery) | Superior (Hybrid fusion)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False Positive Rate   | High (12% - 18%)      | Moderate (5% - 8%)      | Low (&lt; 2.2% calibrated)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Regulatory Audit (Why)| Fully transparent     | Opaque Black-Box         | 100% SHAP + Reason Codes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Decision Latency      | ~15ms                 | ~85ms                   | ~42ms inline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Strategic Vision &amp; Scalability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Expanding from single-transaction risk to global graph intelligence and multi-cloud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1: Real-Time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Q1 MILESTONES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Apache Kafka / Flink streaming bus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Sub-20ms distributed caching via Redis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model drift detection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2: Graph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Q2 MILESTONES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Graph Neural Networks (GNNs) for fraud rings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Cross-merchant entity linkage detection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Synthetic identity community clustering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3: Behavioral Biometrics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Q3 MILESTONES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Mobile keystroke &amp; touch dynamics signals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Session device fingerprinting telemetry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Bot vs. human cursor trajectory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691640"/>
            <a:ext cx="2514600" cy="443484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Phase 4: Consortium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240280"/>
            <a:ext cx="21488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Q4 MILESTONES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Privacy-preserving Federated Learning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Cross-bank collaborative fraud intelligence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Zero-knowledge fraud indicator sharing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>
              <a:gd name="adj" fmla="val 4000"/>
            </a:avLst>
          </a:prstGeom>
          <a:solidFill>
            <a:srgbClr val="151E3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TRANSACTIONGUARD (ATDP)</a:t>
            </a:r>
          </a:p>
          <a:p>
            <a:pPr>
              <a:spcAft>
                <a:spcPts val="16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Protecting Digital Commerce at the Speed of Light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 Summary — Why TransactionGuard Wins: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✔  1. Solves the Real Problem: Eliminates the tradeoff between fast rigid rules and opaque black-box AI.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✔  2. Battle-Tested Performance: 99.8% ROC-AUC accuracy and sub-50ms execution speed on 284k transactions.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✔  3. 100% Audit Transparent: Native SHAP attribution gives regulators and customers instant reason codes.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✔  4. Operational Excellence: Complete Next.js + FastAPI Command Center with live adaptive threshold tuning.</a:t>
            </a:r>
          </a:p>
          <a:p>
            <a:br/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Thank you! We're ready for your questions and live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TransactionGuard (ATDP) — Confidential Fintech Risk Presentation   |  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